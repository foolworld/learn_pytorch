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91"/>
    <p:restoredTop sz="94630"/>
  </p:normalViewPr>
  <p:slideViewPr>
    <p:cSldViewPr snapToGrid="0" snapToObjects="1">
      <p:cViewPr varScale="1">
        <p:scale>
          <a:sx n="156" d="100"/>
          <a:sy n="156" d="100"/>
        </p:scale>
        <p:origin x="9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BEC4E-2CA9-7B4A-960D-5AD8761FD9EA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E5492-DA11-3E40-85FD-1ACC03E052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493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36F38-8397-0E4F-AAF6-C0BB0EF64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311EBA-6B79-F540-A2AC-C5F0F55C7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1E1D63-2F28-2145-9661-A2A342EA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B2999-1429-894C-9378-74F0ACF7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2E469-FAA7-0747-AC85-B3F596C8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665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2720E-20DF-9B41-B560-6FC15248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7FBF5-C92F-204E-B08D-334D06F7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064C83-9C13-E341-9D44-C920A53F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FE6C5-D17C-9E4B-948E-6B38E85E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AAE4B-B694-EE41-9127-ECD52F90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893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E0DEC-912D-094B-A0D0-73CB7A0A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62BB17-1B48-2B48-80D7-67753F47D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E189D-6537-7B42-BE2F-CB01CC00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18F07-73F6-A24E-9673-6B4E752A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34BAF3-C4BB-A641-8DB3-161400A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640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06A90-4A80-014E-BCB7-D4AD99C4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9EE38-D826-6C49-89F3-83D108465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3E01B-3075-6746-A05C-8E81C7DF8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6FFD6-825E-A64A-8ED6-09BF4C14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D43C41-E400-CC46-955D-F3D262A7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2AF46B-67B8-1B47-BFD0-FD6CBEE1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903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F5607-5A81-BE4C-8D0F-153B0ECDE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ADB897-C230-4A43-9A66-826F8A1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540D43-BA46-7A4F-BE77-563AEC2AC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B47026-7238-0543-8901-2142BAD17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C53B23-1C8D-2A42-A198-EC126720A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46ABD7-ACC6-4647-B5F2-3128503D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F0AE4D-4821-CC4F-8B2B-AE870F2C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60D5E1-4722-B94B-88BC-F23B6B31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087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5A30F-690F-694C-8B8F-6EDFE0CA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181376-A59C-C443-A913-6458F337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A3FAD1-CC06-014D-8C19-5F8C18B9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B9FE6F-C69B-7B41-9247-C9912D1F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869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418ABA-1CAD-8E42-ADA1-187FE20C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E364F-4422-034A-ACF3-277622E6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C032F-89A4-FF47-8171-9D47AA34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072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D15D9-4878-454F-ADC3-4068D8F7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DC858-AD2C-EA45-A22D-89C3F9342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4CD3A-39AC-3B47-9E0C-43190C38B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F4BA0C-3FFA-D44A-AFC3-0B42C91A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A6DAD4-1FC6-F14B-AA76-F9FBD046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775A87-B495-B344-B313-D84EEEEA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29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604C9-AECC-6642-9548-6902AA3B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F2F441-173E-F243-B52F-B8AD09DAE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37A18D-34D4-3746-9C1D-1A36F4A4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E3DAE6-4A03-384E-8C73-E5B4D665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06200F-E5E1-EF4F-876D-4E4C3397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4AAC-DE13-4E49-9522-A9943C21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393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1B822-A993-FC46-A58B-971C1E65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71A62B-55F3-C941-998A-10A2AED98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D380B-79F1-6D43-AEB5-7C87FD32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7C274A-916E-BE4A-8E00-2D874350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E5990-4CCD-AA43-977B-EA9A0629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5750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198AA6-F62B-7444-A660-24E0D3ECF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C96F01-1129-904C-9837-000AB780B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5DA72E-3DDD-EA40-A978-D116DD4C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8189E-1297-4145-89D0-B6385267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A27778-EB9F-C948-A17D-EB2A0D08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718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ACAD4D-FC53-794A-A6DD-7EFF3006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95D743-B21A-664B-92FA-5352D9076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95187-6477-5149-9340-5C11997D8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39DDA-FDEA-D74D-B0E8-579EAEAB0023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98A53-D089-784E-86AA-27B68E764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D0EB0-E8E3-4246-9CCD-4332BE63B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BD60-7F9A-3C49-9217-1548A9CD98E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77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067EDAD-7EA3-974B-9EF1-25B7EE29EEED}"/>
              </a:ext>
            </a:extLst>
          </p:cNvPr>
          <p:cNvSpPr txBox="1"/>
          <p:nvPr/>
        </p:nvSpPr>
        <p:spPr>
          <a:xfrm>
            <a:off x="2062480" y="934720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Neural network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17A00B-70DF-994F-B688-3F96AB1192C0}"/>
              </a:ext>
            </a:extLst>
          </p:cNvPr>
          <p:cNvSpPr/>
          <p:nvPr/>
        </p:nvSpPr>
        <p:spPr>
          <a:xfrm>
            <a:off x="4480560" y="2438400"/>
            <a:ext cx="1615440" cy="2174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F98961-FCAB-3E4F-B62D-AEF85F31F28B}"/>
              </a:ext>
            </a:extLst>
          </p:cNvPr>
          <p:cNvSpPr txBox="1"/>
          <p:nvPr/>
        </p:nvSpPr>
        <p:spPr>
          <a:xfrm>
            <a:off x="1788160" y="3149600"/>
            <a:ext cx="135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F09AE56-0106-134D-8C42-437CDA4DCB7D}"/>
              </a:ext>
            </a:extLst>
          </p:cNvPr>
          <p:cNvCxnSpPr/>
          <p:nvPr/>
        </p:nvCxnSpPr>
        <p:spPr>
          <a:xfrm>
            <a:off x="3251200" y="3342640"/>
            <a:ext cx="1229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946EDFDC-DDE4-9545-995D-E30DFB6ACAB0}"/>
              </a:ext>
            </a:extLst>
          </p:cNvPr>
          <p:cNvCxnSpPr/>
          <p:nvPr/>
        </p:nvCxnSpPr>
        <p:spPr>
          <a:xfrm>
            <a:off x="6187440" y="3342640"/>
            <a:ext cx="1137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7612C57-88CF-CD4B-8663-9717CE84DF91}"/>
              </a:ext>
            </a:extLst>
          </p:cNvPr>
          <p:cNvSpPr txBox="1"/>
          <p:nvPr/>
        </p:nvSpPr>
        <p:spPr>
          <a:xfrm>
            <a:off x="7416800" y="3059668"/>
            <a:ext cx="135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output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EB60C4-AD07-4746-94C2-C93058EF4404}"/>
              </a:ext>
            </a:extLst>
          </p:cNvPr>
          <p:cNvSpPr txBox="1"/>
          <p:nvPr/>
        </p:nvSpPr>
        <p:spPr>
          <a:xfrm>
            <a:off x="4775201" y="3149600"/>
            <a:ext cx="135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forward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703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9261BF-79B4-5942-B188-D4F0D000C4A1}"/>
              </a:ext>
            </a:extLst>
          </p:cNvPr>
          <p:cNvSpPr/>
          <p:nvPr/>
        </p:nvSpPr>
        <p:spPr>
          <a:xfrm>
            <a:off x="589280" y="101287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b="1" dirty="0">
                <a:solidFill>
                  <a:srgbClr val="000000"/>
                </a:solidFill>
                <a:effectLst/>
                <a:latin typeface="IBMPlexMono"/>
              </a:rPr>
              <a:t>def</a:t>
            </a:r>
            <a:r>
              <a:rPr lang="en" altLang="zh-CN" dirty="0"/>
              <a:t> </a:t>
            </a:r>
            <a:r>
              <a:rPr lang="en" altLang="zh-CN" b="1" dirty="0">
                <a:solidFill>
                  <a:srgbClr val="990000"/>
                </a:solidFill>
                <a:effectLst/>
                <a:latin typeface="IBMPlexMono"/>
              </a:rPr>
              <a:t>forward</a:t>
            </a:r>
            <a:r>
              <a:rPr lang="en" altLang="zh-CN" dirty="0">
                <a:effectLst/>
                <a:latin typeface="IBMPlexMono"/>
              </a:rPr>
              <a:t>(</a:t>
            </a:r>
            <a:r>
              <a:rPr lang="en" altLang="zh-CN" dirty="0">
                <a:solidFill>
                  <a:srgbClr val="525252"/>
                </a:solidFill>
                <a:effectLst/>
                <a:latin typeface="IBMPlexMono"/>
              </a:rPr>
              <a:t>self</a:t>
            </a:r>
            <a:r>
              <a:rPr lang="en" altLang="zh-CN" dirty="0">
                <a:effectLst/>
                <a:latin typeface="IBMPlexMono"/>
              </a:rPr>
              <a:t>,</a:t>
            </a:r>
            <a:r>
              <a:rPr lang="en" altLang="zh-CN" dirty="0"/>
              <a:t> </a:t>
            </a:r>
            <a:r>
              <a:rPr lang="en" altLang="zh-CN" dirty="0">
                <a:effectLst/>
                <a:latin typeface="IBMPlexMono"/>
              </a:rPr>
              <a:t>x):</a:t>
            </a:r>
            <a:r>
              <a:rPr lang="en" altLang="zh-CN" dirty="0"/>
              <a:t> </a:t>
            </a:r>
          </a:p>
          <a:p>
            <a:r>
              <a:rPr lang="en" altLang="zh-CN" dirty="0">
                <a:effectLst/>
                <a:latin typeface="IBMPlexMono"/>
              </a:rPr>
              <a:t>x</a:t>
            </a:r>
            <a:r>
              <a:rPr lang="en" altLang="zh-CN" dirty="0"/>
              <a:t> </a:t>
            </a:r>
            <a:r>
              <a:rPr lang="en" altLang="zh-CN" b="1" dirty="0">
                <a:solidFill>
                  <a:srgbClr val="000000"/>
                </a:solidFill>
                <a:effectLst/>
                <a:latin typeface="IBMPlexMono"/>
              </a:rPr>
              <a:t>=</a:t>
            </a:r>
            <a:r>
              <a:rPr lang="en" altLang="zh-CN" dirty="0"/>
              <a:t> </a:t>
            </a:r>
            <a:r>
              <a:rPr lang="en" altLang="zh-CN" dirty="0" err="1">
                <a:effectLst/>
                <a:latin typeface="IBMPlexMono"/>
              </a:rPr>
              <a:t>F</a:t>
            </a:r>
            <a:r>
              <a:rPr lang="en" altLang="zh-CN" b="1" dirty="0" err="1">
                <a:solidFill>
                  <a:srgbClr val="000000"/>
                </a:solidFill>
                <a:effectLst/>
                <a:latin typeface="IBMPlexMono"/>
              </a:rPr>
              <a:t>.</a:t>
            </a:r>
            <a:r>
              <a:rPr lang="en" altLang="zh-CN" dirty="0" err="1">
                <a:effectLst/>
                <a:latin typeface="IBMPlexMono"/>
              </a:rPr>
              <a:t>relu</a:t>
            </a:r>
            <a:r>
              <a:rPr lang="en" altLang="zh-CN" dirty="0">
                <a:effectLst/>
                <a:latin typeface="IBMPlexMono"/>
              </a:rPr>
              <a:t>(</a:t>
            </a:r>
            <a:r>
              <a:rPr lang="en" altLang="zh-CN" dirty="0">
                <a:solidFill>
                  <a:srgbClr val="525252"/>
                </a:solidFill>
                <a:effectLst/>
                <a:latin typeface="IBMPlexMono"/>
              </a:rPr>
              <a:t>self</a:t>
            </a:r>
            <a:r>
              <a:rPr lang="en" altLang="zh-CN" b="1" dirty="0">
                <a:solidFill>
                  <a:srgbClr val="000000"/>
                </a:solidFill>
                <a:effectLst/>
                <a:latin typeface="IBMPlexMono"/>
              </a:rPr>
              <a:t>.</a:t>
            </a:r>
            <a:r>
              <a:rPr lang="en" altLang="zh-CN" dirty="0">
                <a:effectLst/>
                <a:latin typeface="IBMPlexMono"/>
              </a:rPr>
              <a:t>conv1(x))</a:t>
            </a:r>
            <a:r>
              <a:rPr lang="en" altLang="zh-CN" dirty="0"/>
              <a:t> </a:t>
            </a:r>
          </a:p>
          <a:p>
            <a:r>
              <a:rPr lang="en" altLang="zh-CN" b="1" dirty="0">
                <a:solidFill>
                  <a:srgbClr val="000000"/>
                </a:solidFill>
                <a:effectLst/>
                <a:latin typeface="IBMPlexMono"/>
              </a:rPr>
              <a:t>return</a:t>
            </a:r>
            <a:r>
              <a:rPr lang="en" altLang="zh-CN" dirty="0"/>
              <a:t> </a:t>
            </a:r>
            <a:r>
              <a:rPr lang="en" altLang="zh-CN" dirty="0" err="1">
                <a:effectLst/>
                <a:latin typeface="IBMPlexMono"/>
              </a:rPr>
              <a:t>F</a:t>
            </a:r>
            <a:r>
              <a:rPr lang="en" altLang="zh-CN" b="1" dirty="0" err="1">
                <a:solidFill>
                  <a:srgbClr val="000000"/>
                </a:solidFill>
                <a:effectLst/>
                <a:latin typeface="IBMPlexMono"/>
              </a:rPr>
              <a:t>.</a:t>
            </a:r>
            <a:r>
              <a:rPr lang="en" altLang="zh-CN" dirty="0" err="1">
                <a:effectLst/>
                <a:latin typeface="IBMPlexMono"/>
              </a:rPr>
              <a:t>relu</a:t>
            </a:r>
            <a:r>
              <a:rPr lang="en" altLang="zh-CN" dirty="0">
                <a:effectLst/>
                <a:latin typeface="IBMPlexMono"/>
              </a:rPr>
              <a:t>(</a:t>
            </a:r>
            <a:r>
              <a:rPr lang="en" altLang="zh-CN" dirty="0">
                <a:solidFill>
                  <a:srgbClr val="525252"/>
                </a:solidFill>
                <a:effectLst/>
                <a:latin typeface="IBMPlexMono"/>
              </a:rPr>
              <a:t>self</a:t>
            </a:r>
            <a:r>
              <a:rPr lang="en" altLang="zh-CN" b="1" dirty="0">
                <a:solidFill>
                  <a:srgbClr val="000000"/>
                </a:solidFill>
                <a:effectLst/>
                <a:latin typeface="IBMPlexMono"/>
              </a:rPr>
              <a:t>.</a:t>
            </a:r>
            <a:r>
              <a:rPr lang="en" altLang="zh-CN" dirty="0">
                <a:effectLst/>
                <a:latin typeface="IBMPlexMono"/>
              </a:rPr>
              <a:t>conv2(x))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28BC48-DF0A-504A-BFCB-9926E4E01B1C}"/>
              </a:ext>
            </a:extLst>
          </p:cNvPr>
          <p:cNvSpPr txBox="1"/>
          <p:nvPr/>
        </p:nvSpPr>
        <p:spPr>
          <a:xfrm>
            <a:off x="7010400" y="873760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输入：</a:t>
            </a:r>
            <a:r>
              <a:rPr kumimoji="1" lang="en-US" altLang="zh-CN" dirty="0"/>
              <a:t>x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4562E6-4F41-8F4F-A725-B564A9E36A35}"/>
              </a:ext>
            </a:extLst>
          </p:cNvPr>
          <p:cNvSpPr txBox="1"/>
          <p:nvPr/>
        </p:nvSpPr>
        <p:spPr>
          <a:xfrm>
            <a:off x="7323298" y="14905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卷积</a:t>
            </a:r>
            <a:endParaRPr kumimoji="1"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49D046-D5E5-C84B-911D-3E486E135D7F}"/>
              </a:ext>
            </a:extLst>
          </p:cNvPr>
          <p:cNvSpPr txBox="1"/>
          <p:nvPr/>
        </p:nvSpPr>
        <p:spPr>
          <a:xfrm>
            <a:off x="7342222" y="1936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非线性</a:t>
            </a:r>
            <a:endParaRPr kumimoji="1"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B3D7AB-1359-6940-AC20-D6924F7E25DF}"/>
              </a:ext>
            </a:extLst>
          </p:cNvPr>
          <p:cNvSpPr txBox="1"/>
          <p:nvPr/>
        </p:nvSpPr>
        <p:spPr>
          <a:xfrm>
            <a:off x="7342222" y="23819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卷积</a:t>
            </a:r>
            <a:endParaRPr kumimoji="1"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64E7BA-9358-364E-8A3A-2579552B2B61}"/>
              </a:ext>
            </a:extLst>
          </p:cNvPr>
          <p:cNvSpPr txBox="1"/>
          <p:nvPr/>
        </p:nvSpPr>
        <p:spPr>
          <a:xfrm>
            <a:off x="7457637" y="29986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非线性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8829DE-A804-DC4E-AB36-3953C6E31F13}"/>
              </a:ext>
            </a:extLst>
          </p:cNvPr>
          <p:cNvSpPr txBox="1"/>
          <p:nvPr/>
        </p:nvSpPr>
        <p:spPr>
          <a:xfrm>
            <a:off x="7111390" y="36443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输出</a:t>
            </a:r>
            <a:endParaRPr kumimoji="1" lang="en-US" altLang="zh-CN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2310C2F-8D85-9F42-B036-CF4D6628D0E4}"/>
              </a:ext>
            </a:extLst>
          </p:cNvPr>
          <p:cNvCxnSpPr>
            <a:endCxn id="6" idx="1"/>
          </p:cNvCxnSpPr>
          <p:nvPr/>
        </p:nvCxnSpPr>
        <p:spPr>
          <a:xfrm>
            <a:off x="2286000" y="1474540"/>
            <a:ext cx="5037298" cy="20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24FF713-42F4-4B41-B029-2DE6262393E4}"/>
              </a:ext>
            </a:extLst>
          </p:cNvPr>
          <p:cNvCxnSpPr>
            <a:endCxn id="7" idx="1"/>
          </p:cNvCxnSpPr>
          <p:nvPr/>
        </p:nvCxnSpPr>
        <p:spPr>
          <a:xfrm>
            <a:off x="1341120" y="1519420"/>
            <a:ext cx="6001102" cy="601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6960214-5060-904F-A1DA-3ADBD0E15F8D}"/>
              </a:ext>
            </a:extLst>
          </p:cNvPr>
          <p:cNvCxnSpPr/>
          <p:nvPr/>
        </p:nvCxnSpPr>
        <p:spPr>
          <a:xfrm>
            <a:off x="2824480" y="1859837"/>
            <a:ext cx="4498818" cy="667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2391F8C-FEDD-8C4B-B1D4-9629A4D11DC6}"/>
              </a:ext>
            </a:extLst>
          </p:cNvPr>
          <p:cNvCxnSpPr>
            <a:endCxn id="9" idx="1"/>
          </p:cNvCxnSpPr>
          <p:nvPr/>
        </p:nvCxnSpPr>
        <p:spPr>
          <a:xfrm>
            <a:off x="1625600" y="1875802"/>
            <a:ext cx="5832037" cy="1307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A6F6A72B-A15A-934B-9E44-9068693A2DB9}"/>
              </a:ext>
            </a:extLst>
          </p:cNvPr>
          <p:cNvCxnSpPr/>
          <p:nvPr/>
        </p:nvCxnSpPr>
        <p:spPr>
          <a:xfrm>
            <a:off x="985520" y="1998337"/>
            <a:ext cx="6024880" cy="186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52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7031707-2D30-E54C-A5FE-0E6003E99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48381"/>
              </p:ext>
            </p:extLst>
          </p:nvPr>
        </p:nvGraphicFramePr>
        <p:xfrm>
          <a:off x="479227" y="486886"/>
          <a:ext cx="2695773" cy="2942114"/>
        </p:xfrm>
        <a:graphic>
          <a:graphicData uri="http://schemas.openxmlformats.org/drawingml/2006/table">
            <a:tbl>
              <a:tblPr/>
              <a:tblGrid>
                <a:gridCol w="526518">
                  <a:extLst>
                    <a:ext uri="{9D8B030D-6E8A-4147-A177-3AD203B41FA5}">
                      <a16:colId xmlns:a16="http://schemas.microsoft.com/office/drawing/2014/main" val="2264575779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1283912556"/>
                    </a:ext>
                  </a:extLst>
                </a:gridCol>
                <a:gridCol w="526518">
                  <a:extLst>
                    <a:ext uri="{9D8B030D-6E8A-4147-A177-3AD203B41FA5}">
                      <a16:colId xmlns:a16="http://schemas.microsoft.com/office/drawing/2014/main" val="409442440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207998226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868209946"/>
                    </a:ext>
                  </a:extLst>
                </a:gridCol>
              </a:tblGrid>
              <a:tr h="6299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98627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5490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215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1004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9432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026AA5-F1A8-2744-BDD5-F16F23C0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380081"/>
              </p:ext>
            </p:extLst>
          </p:nvPr>
        </p:nvGraphicFramePr>
        <p:xfrm>
          <a:off x="4971394" y="1078746"/>
          <a:ext cx="1642766" cy="1629172"/>
        </p:xfrm>
        <a:graphic>
          <a:graphicData uri="http://schemas.openxmlformats.org/drawingml/2006/table">
            <a:tbl>
              <a:tblPr/>
              <a:tblGrid>
                <a:gridCol w="523608">
                  <a:extLst>
                    <a:ext uri="{9D8B030D-6E8A-4147-A177-3AD203B41FA5}">
                      <a16:colId xmlns:a16="http://schemas.microsoft.com/office/drawing/2014/main" val="2060692951"/>
                    </a:ext>
                  </a:extLst>
                </a:gridCol>
                <a:gridCol w="544456">
                  <a:extLst>
                    <a:ext uri="{9D8B030D-6E8A-4147-A177-3AD203B41FA5}">
                      <a16:colId xmlns:a16="http://schemas.microsoft.com/office/drawing/2014/main" val="4289742241"/>
                    </a:ext>
                  </a:extLst>
                </a:gridCol>
                <a:gridCol w="574702">
                  <a:extLst>
                    <a:ext uri="{9D8B030D-6E8A-4147-A177-3AD203B41FA5}">
                      <a16:colId xmlns:a16="http://schemas.microsoft.com/office/drawing/2014/main" val="2434985697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857988"/>
                  </a:ext>
                </a:extLst>
              </a:tr>
              <a:tr h="46470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68097"/>
                  </a:ext>
                </a:extLst>
              </a:tr>
              <a:tr h="53199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9841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0E8B4FE-6298-A846-BC2B-5E0C1AD53A92}"/>
              </a:ext>
            </a:extLst>
          </p:cNvPr>
          <p:cNvSpPr txBox="1"/>
          <p:nvPr/>
        </p:nvSpPr>
        <p:spPr>
          <a:xfrm>
            <a:off x="1246908" y="3697541"/>
            <a:ext cx="133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输入图像</a:t>
            </a:r>
            <a:r>
              <a:rPr kumimoji="1" lang="en-US" altLang="zh-CN" dirty="0"/>
              <a:t>(5X5)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E0133C-09D8-964F-BB27-07A279582811}"/>
              </a:ext>
            </a:extLst>
          </p:cNvPr>
          <p:cNvSpPr txBox="1"/>
          <p:nvPr/>
        </p:nvSpPr>
        <p:spPr>
          <a:xfrm>
            <a:off x="5504213" y="3697541"/>
            <a:ext cx="95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卷积核</a:t>
            </a:r>
            <a:r>
              <a:rPr kumimoji="1" lang="en-US" altLang="zh-CN" dirty="0"/>
              <a:t>(3x3)</a:t>
            </a:r>
            <a:endParaRPr kumimoji="1" lang="zh-CN" altLang="en-US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F8F20BE-6EF0-A246-9700-39704EF1F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3237"/>
              </p:ext>
            </p:extLst>
          </p:nvPr>
        </p:nvGraphicFramePr>
        <p:xfrm>
          <a:off x="8990940" y="748145"/>
          <a:ext cx="1768500" cy="158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00">
                  <a:extLst>
                    <a:ext uri="{9D8B030D-6E8A-4147-A177-3AD203B41FA5}">
                      <a16:colId xmlns:a16="http://schemas.microsoft.com/office/drawing/2014/main" val="2126043729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3640053503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4218051786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48957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1346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5075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6061728-0719-394E-9FD4-43FD8203BF2A}"/>
              </a:ext>
            </a:extLst>
          </p:cNvPr>
          <p:cNvSpPr txBox="1"/>
          <p:nvPr/>
        </p:nvSpPr>
        <p:spPr>
          <a:xfrm>
            <a:off x="2946400" y="5019040"/>
            <a:ext cx="497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1+4+0+0+1+0+2+2+0=10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41DCE-413F-6B4A-885B-A76BC190005A}"/>
              </a:ext>
            </a:extLst>
          </p:cNvPr>
          <p:cNvSpPr txBox="1"/>
          <p:nvPr/>
        </p:nvSpPr>
        <p:spPr>
          <a:xfrm>
            <a:off x="7294880" y="8940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Stride=1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DFA582-5A0F-4F4F-BA8A-F45A3ECC3ADB}"/>
              </a:ext>
            </a:extLst>
          </p:cNvPr>
          <p:cNvSpPr txBox="1"/>
          <p:nvPr/>
        </p:nvSpPr>
        <p:spPr>
          <a:xfrm>
            <a:off x="2946400" y="5486400"/>
            <a:ext cx="370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2+0+3+0+2+0+4+1=12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8D1403-6CDF-B643-93E1-0D91E10E976F}"/>
              </a:ext>
            </a:extLst>
          </p:cNvPr>
          <p:cNvSpPr txBox="1"/>
          <p:nvPr/>
        </p:nvSpPr>
        <p:spPr>
          <a:xfrm>
            <a:off x="2865120" y="5855732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0+6+1+0+3+0+2+0+0=12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F4E8CA-1A99-1045-B72A-D3130A8C758C}"/>
              </a:ext>
            </a:extLst>
          </p:cNvPr>
          <p:cNvSpPr txBox="1"/>
          <p:nvPr/>
        </p:nvSpPr>
        <p:spPr>
          <a:xfrm>
            <a:off x="9123680" y="2834640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卷积后的输出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4908C8-BBE9-DF4A-BC51-EA6F94CB79B7}"/>
              </a:ext>
            </a:extLst>
          </p:cNvPr>
          <p:cNvSpPr txBox="1"/>
          <p:nvPr/>
        </p:nvSpPr>
        <p:spPr>
          <a:xfrm>
            <a:off x="4767309" y="213064"/>
            <a:ext cx="315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卷积操作</a:t>
            </a:r>
          </a:p>
        </p:txBody>
      </p:sp>
    </p:spTree>
    <p:extLst>
      <p:ext uri="{BB962C8B-B14F-4D97-AF65-F5344CB8AC3E}">
        <p14:creationId xmlns:p14="http://schemas.microsoft.com/office/powerpoint/2010/main" val="3785611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7031707-2D30-E54C-A5FE-0E6003E99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311878"/>
              </p:ext>
            </p:extLst>
          </p:nvPr>
        </p:nvGraphicFramePr>
        <p:xfrm>
          <a:off x="901528" y="635952"/>
          <a:ext cx="3708399" cy="4150117"/>
        </p:xfrm>
        <a:graphic>
          <a:graphicData uri="http://schemas.openxmlformats.org/drawingml/2006/table">
            <a:tbl>
              <a:tblPr/>
              <a:tblGrid>
                <a:gridCol w="517933">
                  <a:extLst>
                    <a:ext uri="{9D8B030D-6E8A-4147-A177-3AD203B41FA5}">
                      <a16:colId xmlns:a16="http://schemas.microsoft.com/office/drawing/2014/main" val="96777933"/>
                    </a:ext>
                  </a:extLst>
                </a:gridCol>
                <a:gridCol w="517933">
                  <a:extLst>
                    <a:ext uri="{9D8B030D-6E8A-4147-A177-3AD203B41FA5}">
                      <a16:colId xmlns:a16="http://schemas.microsoft.com/office/drawing/2014/main" val="2264575779"/>
                    </a:ext>
                  </a:extLst>
                </a:gridCol>
                <a:gridCol w="538650">
                  <a:extLst>
                    <a:ext uri="{9D8B030D-6E8A-4147-A177-3AD203B41FA5}">
                      <a16:colId xmlns:a16="http://schemas.microsoft.com/office/drawing/2014/main" val="1283912556"/>
                    </a:ext>
                  </a:extLst>
                </a:gridCol>
                <a:gridCol w="517933">
                  <a:extLst>
                    <a:ext uri="{9D8B030D-6E8A-4147-A177-3AD203B41FA5}">
                      <a16:colId xmlns:a16="http://schemas.microsoft.com/office/drawing/2014/main" val="409442440"/>
                    </a:ext>
                  </a:extLst>
                </a:gridCol>
                <a:gridCol w="538650">
                  <a:extLst>
                    <a:ext uri="{9D8B030D-6E8A-4147-A177-3AD203B41FA5}">
                      <a16:colId xmlns:a16="http://schemas.microsoft.com/office/drawing/2014/main" val="3207998226"/>
                    </a:ext>
                  </a:extLst>
                </a:gridCol>
                <a:gridCol w="538650">
                  <a:extLst>
                    <a:ext uri="{9D8B030D-6E8A-4147-A177-3AD203B41FA5}">
                      <a16:colId xmlns:a16="http://schemas.microsoft.com/office/drawing/2014/main" val="3868209946"/>
                    </a:ext>
                  </a:extLst>
                </a:gridCol>
                <a:gridCol w="538650">
                  <a:extLst>
                    <a:ext uri="{9D8B030D-6E8A-4147-A177-3AD203B41FA5}">
                      <a16:colId xmlns:a16="http://schemas.microsoft.com/office/drawing/2014/main" val="1372012084"/>
                    </a:ext>
                  </a:extLst>
                </a:gridCol>
              </a:tblGrid>
              <a:tr h="62996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051392"/>
                  </a:ext>
                </a:extLst>
              </a:tr>
              <a:tr h="62996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98627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5490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215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1004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94329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747297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026AA5-F1A8-2744-BDD5-F16F23C0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07107"/>
              </p:ext>
            </p:extLst>
          </p:nvPr>
        </p:nvGraphicFramePr>
        <p:xfrm>
          <a:off x="2967161" y="894080"/>
          <a:ext cx="1642766" cy="1676708"/>
        </p:xfrm>
        <a:graphic>
          <a:graphicData uri="http://schemas.openxmlformats.org/drawingml/2006/table">
            <a:tbl>
              <a:tblPr/>
              <a:tblGrid>
                <a:gridCol w="523608">
                  <a:extLst>
                    <a:ext uri="{9D8B030D-6E8A-4147-A177-3AD203B41FA5}">
                      <a16:colId xmlns:a16="http://schemas.microsoft.com/office/drawing/2014/main" val="2060692951"/>
                    </a:ext>
                  </a:extLst>
                </a:gridCol>
                <a:gridCol w="544456">
                  <a:extLst>
                    <a:ext uri="{9D8B030D-6E8A-4147-A177-3AD203B41FA5}">
                      <a16:colId xmlns:a16="http://schemas.microsoft.com/office/drawing/2014/main" val="4289742241"/>
                    </a:ext>
                  </a:extLst>
                </a:gridCol>
                <a:gridCol w="574702">
                  <a:extLst>
                    <a:ext uri="{9D8B030D-6E8A-4147-A177-3AD203B41FA5}">
                      <a16:colId xmlns:a16="http://schemas.microsoft.com/office/drawing/2014/main" val="2434985697"/>
                    </a:ext>
                  </a:extLst>
                </a:gridCol>
              </a:tblGrid>
              <a:tr h="680016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857988"/>
                  </a:ext>
                </a:extLst>
              </a:tr>
              <a:tr h="46470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68097"/>
                  </a:ext>
                </a:extLst>
              </a:tr>
              <a:tr h="53199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9841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0E8B4FE-6298-A846-BC2B-5E0C1AD53A92}"/>
              </a:ext>
            </a:extLst>
          </p:cNvPr>
          <p:cNvSpPr txBox="1"/>
          <p:nvPr/>
        </p:nvSpPr>
        <p:spPr>
          <a:xfrm>
            <a:off x="1381195" y="4880540"/>
            <a:ext cx="133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输入图像</a:t>
            </a:r>
            <a:r>
              <a:rPr kumimoji="1" lang="en-US" altLang="zh-CN" dirty="0"/>
              <a:t>(5X5)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E0133C-09D8-964F-BB27-07A279582811}"/>
              </a:ext>
            </a:extLst>
          </p:cNvPr>
          <p:cNvSpPr txBox="1"/>
          <p:nvPr/>
        </p:nvSpPr>
        <p:spPr>
          <a:xfrm>
            <a:off x="5504213" y="3697541"/>
            <a:ext cx="95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卷积核</a:t>
            </a:r>
            <a:r>
              <a:rPr kumimoji="1" lang="en-US" altLang="zh-CN" dirty="0"/>
              <a:t>(3x3)</a:t>
            </a:r>
            <a:endParaRPr kumimoji="1" lang="zh-CN" altLang="en-US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F8F20BE-6EF0-A246-9700-39704EF1F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1942"/>
              </p:ext>
            </p:extLst>
          </p:nvPr>
        </p:nvGraphicFramePr>
        <p:xfrm>
          <a:off x="8990940" y="748145"/>
          <a:ext cx="2571140" cy="158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28">
                  <a:extLst>
                    <a:ext uri="{9D8B030D-6E8A-4147-A177-3AD203B41FA5}">
                      <a16:colId xmlns:a16="http://schemas.microsoft.com/office/drawing/2014/main" val="2126043729"/>
                    </a:ext>
                  </a:extLst>
                </a:gridCol>
                <a:gridCol w="514228">
                  <a:extLst>
                    <a:ext uri="{9D8B030D-6E8A-4147-A177-3AD203B41FA5}">
                      <a16:colId xmlns:a16="http://schemas.microsoft.com/office/drawing/2014/main" val="3640053503"/>
                    </a:ext>
                  </a:extLst>
                </a:gridCol>
                <a:gridCol w="514228">
                  <a:extLst>
                    <a:ext uri="{9D8B030D-6E8A-4147-A177-3AD203B41FA5}">
                      <a16:colId xmlns:a16="http://schemas.microsoft.com/office/drawing/2014/main" val="4218051786"/>
                    </a:ext>
                  </a:extLst>
                </a:gridCol>
                <a:gridCol w="514228">
                  <a:extLst>
                    <a:ext uri="{9D8B030D-6E8A-4147-A177-3AD203B41FA5}">
                      <a16:colId xmlns:a16="http://schemas.microsoft.com/office/drawing/2014/main" val="1222422547"/>
                    </a:ext>
                  </a:extLst>
                </a:gridCol>
                <a:gridCol w="514228">
                  <a:extLst>
                    <a:ext uri="{9D8B030D-6E8A-4147-A177-3AD203B41FA5}">
                      <a16:colId xmlns:a16="http://schemas.microsoft.com/office/drawing/2014/main" val="328891872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48957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1346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5075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6061728-0719-394E-9FD4-43FD8203BF2A}"/>
              </a:ext>
            </a:extLst>
          </p:cNvPr>
          <p:cNvSpPr txBox="1"/>
          <p:nvPr/>
        </p:nvSpPr>
        <p:spPr>
          <a:xfrm>
            <a:off x="2946400" y="5019040"/>
            <a:ext cx="497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1+4+0+0+1+0+2+2+0=10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41DCE-413F-6B4A-885B-A76BC190005A}"/>
              </a:ext>
            </a:extLst>
          </p:cNvPr>
          <p:cNvSpPr txBox="1"/>
          <p:nvPr/>
        </p:nvSpPr>
        <p:spPr>
          <a:xfrm>
            <a:off x="7294880" y="89408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padding=1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DFA582-5A0F-4F4F-BA8A-F45A3ECC3ADB}"/>
              </a:ext>
            </a:extLst>
          </p:cNvPr>
          <p:cNvSpPr txBox="1"/>
          <p:nvPr/>
        </p:nvSpPr>
        <p:spPr>
          <a:xfrm>
            <a:off x="2946400" y="5486400"/>
            <a:ext cx="370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2+0+3+0+2+0+4+1=12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8D1403-6CDF-B643-93E1-0D91E10E976F}"/>
              </a:ext>
            </a:extLst>
          </p:cNvPr>
          <p:cNvSpPr txBox="1"/>
          <p:nvPr/>
        </p:nvSpPr>
        <p:spPr>
          <a:xfrm>
            <a:off x="2865120" y="5855732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0+6+1+0+3+0+2+0+0=12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F4E8CA-1A99-1045-B72A-D3130A8C758C}"/>
              </a:ext>
            </a:extLst>
          </p:cNvPr>
          <p:cNvSpPr txBox="1"/>
          <p:nvPr/>
        </p:nvSpPr>
        <p:spPr>
          <a:xfrm>
            <a:off x="9123680" y="2834640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卷积后的输出</a:t>
            </a:r>
          </a:p>
        </p:txBody>
      </p:sp>
    </p:spTree>
    <p:extLst>
      <p:ext uri="{BB962C8B-B14F-4D97-AF65-F5344CB8AC3E}">
        <p14:creationId xmlns:p14="http://schemas.microsoft.com/office/powerpoint/2010/main" val="257637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7031707-2D30-E54C-A5FE-0E6003E99A2C}"/>
              </a:ext>
            </a:extLst>
          </p:cNvPr>
          <p:cNvGraphicFramePr>
            <a:graphicFrameLocks noGrp="1"/>
          </p:cNvGraphicFramePr>
          <p:nvPr/>
        </p:nvGraphicFramePr>
        <p:xfrm>
          <a:off x="479227" y="486886"/>
          <a:ext cx="2695773" cy="2942114"/>
        </p:xfrm>
        <a:graphic>
          <a:graphicData uri="http://schemas.openxmlformats.org/drawingml/2006/table">
            <a:tbl>
              <a:tblPr/>
              <a:tblGrid>
                <a:gridCol w="526518">
                  <a:extLst>
                    <a:ext uri="{9D8B030D-6E8A-4147-A177-3AD203B41FA5}">
                      <a16:colId xmlns:a16="http://schemas.microsoft.com/office/drawing/2014/main" val="2264575779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1283912556"/>
                    </a:ext>
                  </a:extLst>
                </a:gridCol>
                <a:gridCol w="526518">
                  <a:extLst>
                    <a:ext uri="{9D8B030D-6E8A-4147-A177-3AD203B41FA5}">
                      <a16:colId xmlns:a16="http://schemas.microsoft.com/office/drawing/2014/main" val="409442440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207998226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868209946"/>
                    </a:ext>
                  </a:extLst>
                </a:gridCol>
              </a:tblGrid>
              <a:tr h="6299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98627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5490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215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1004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9432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026AA5-F1A8-2744-BDD5-F16F23C0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738568"/>
              </p:ext>
            </p:extLst>
          </p:nvPr>
        </p:nvGraphicFramePr>
        <p:xfrm>
          <a:off x="5449376" y="1078746"/>
          <a:ext cx="1642766" cy="1629172"/>
        </p:xfrm>
        <a:graphic>
          <a:graphicData uri="http://schemas.openxmlformats.org/drawingml/2006/table">
            <a:tbl>
              <a:tblPr/>
              <a:tblGrid>
                <a:gridCol w="523608">
                  <a:extLst>
                    <a:ext uri="{9D8B030D-6E8A-4147-A177-3AD203B41FA5}">
                      <a16:colId xmlns:a16="http://schemas.microsoft.com/office/drawing/2014/main" val="2060692951"/>
                    </a:ext>
                  </a:extLst>
                </a:gridCol>
                <a:gridCol w="544456">
                  <a:extLst>
                    <a:ext uri="{9D8B030D-6E8A-4147-A177-3AD203B41FA5}">
                      <a16:colId xmlns:a16="http://schemas.microsoft.com/office/drawing/2014/main" val="4289742241"/>
                    </a:ext>
                  </a:extLst>
                </a:gridCol>
                <a:gridCol w="574702">
                  <a:extLst>
                    <a:ext uri="{9D8B030D-6E8A-4147-A177-3AD203B41FA5}">
                      <a16:colId xmlns:a16="http://schemas.microsoft.com/office/drawing/2014/main" val="2434985697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857988"/>
                  </a:ext>
                </a:extLst>
              </a:tr>
              <a:tr h="46470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68097"/>
                  </a:ext>
                </a:extLst>
              </a:tr>
              <a:tr h="53199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9841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0E8B4FE-6298-A846-BC2B-5E0C1AD53A92}"/>
              </a:ext>
            </a:extLst>
          </p:cNvPr>
          <p:cNvSpPr txBox="1"/>
          <p:nvPr/>
        </p:nvSpPr>
        <p:spPr>
          <a:xfrm>
            <a:off x="1246908" y="3697541"/>
            <a:ext cx="133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输入图像</a:t>
            </a:r>
            <a:r>
              <a:rPr kumimoji="1" lang="en-US" altLang="zh-CN" dirty="0"/>
              <a:t>(5X5)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E0133C-09D8-964F-BB27-07A279582811}"/>
              </a:ext>
            </a:extLst>
          </p:cNvPr>
          <p:cNvSpPr txBox="1"/>
          <p:nvPr/>
        </p:nvSpPr>
        <p:spPr>
          <a:xfrm>
            <a:off x="5314795" y="3363516"/>
            <a:ext cx="95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卷积核</a:t>
            </a:r>
            <a:r>
              <a:rPr kumimoji="1" lang="en-US" altLang="zh-CN" dirty="0"/>
              <a:t>(3x3)</a:t>
            </a:r>
            <a:endParaRPr kumimoji="1" lang="zh-CN" altLang="en-US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F8F20BE-6EF0-A246-9700-39704EF1F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57549"/>
              </p:ext>
            </p:extLst>
          </p:nvPr>
        </p:nvGraphicFramePr>
        <p:xfrm>
          <a:off x="9017002" y="894080"/>
          <a:ext cx="1768500" cy="158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00">
                  <a:extLst>
                    <a:ext uri="{9D8B030D-6E8A-4147-A177-3AD203B41FA5}">
                      <a16:colId xmlns:a16="http://schemas.microsoft.com/office/drawing/2014/main" val="2126043729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3640053503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4218051786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48957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1346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5075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8241DCE-413F-6B4A-885B-A76BC190005A}"/>
              </a:ext>
            </a:extLst>
          </p:cNvPr>
          <p:cNvSpPr txBox="1"/>
          <p:nvPr/>
        </p:nvSpPr>
        <p:spPr>
          <a:xfrm>
            <a:off x="7294880" y="8940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Stride=1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F4E8CA-1A99-1045-B72A-D3130A8C758C}"/>
              </a:ext>
            </a:extLst>
          </p:cNvPr>
          <p:cNvSpPr txBox="1"/>
          <p:nvPr/>
        </p:nvSpPr>
        <p:spPr>
          <a:xfrm>
            <a:off x="9123680" y="2834640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卷积后的输出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128A84-6272-8445-B849-18BCDDF38EA6}"/>
              </a:ext>
            </a:extLst>
          </p:cNvPr>
          <p:cNvSpPr txBox="1"/>
          <p:nvPr/>
        </p:nvSpPr>
        <p:spPr>
          <a:xfrm>
            <a:off x="802640" y="4470400"/>
            <a:ext cx="227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In_channel</a:t>
            </a:r>
            <a:r>
              <a:rPr kumimoji="1" lang="en-US" altLang="zh-CN" dirty="0"/>
              <a:t>=1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FFAD9F-C0BA-3747-9A7F-4D8B9FA7AC9B}"/>
              </a:ext>
            </a:extLst>
          </p:cNvPr>
          <p:cNvSpPr txBox="1"/>
          <p:nvPr/>
        </p:nvSpPr>
        <p:spPr>
          <a:xfrm>
            <a:off x="9225280" y="3298429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Out_channel</a:t>
            </a:r>
            <a:r>
              <a:rPr kumimoji="1" lang="en-US" altLang="zh-CN" dirty="0"/>
              <a:t>=2</a:t>
            </a:r>
            <a:endParaRPr kumimoji="1" lang="zh-CN" altLang="en-US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38116A2-8714-5940-8299-116C66E69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970705"/>
              </p:ext>
            </p:extLst>
          </p:nvPr>
        </p:nvGraphicFramePr>
        <p:xfrm>
          <a:off x="4971394" y="4267200"/>
          <a:ext cx="1642766" cy="1629172"/>
        </p:xfrm>
        <a:graphic>
          <a:graphicData uri="http://schemas.openxmlformats.org/drawingml/2006/table">
            <a:tbl>
              <a:tblPr/>
              <a:tblGrid>
                <a:gridCol w="523608">
                  <a:extLst>
                    <a:ext uri="{9D8B030D-6E8A-4147-A177-3AD203B41FA5}">
                      <a16:colId xmlns:a16="http://schemas.microsoft.com/office/drawing/2014/main" val="2060692951"/>
                    </a:ext>
                  </a:extLst>
                </a:gridCol>
                <a:gridCol w="544456">
                  <a:extLst>
                    <a:ext uri="{9D8B030D-6E8A-4147-A177-3AD203B41FA5}">
                      <a16:colId xmlns:a16="http://schemas.microsoft.com/office/drawing/2014/main" val="4289742241"/>
                    </a:ext>
                  </a:extLst>
                </a:gridCol>
                <a:gridCol w="574702">
                  <a:extLst>
                    <a:ext uri="{9D8B030D-6E8A-4147-A177-3AD203B41FA5}">
                      <a16:colId xmlns:a16="http://schemas.microsoft.com/office/drawing/2014/main" val="2434985697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857988"/>
                  </a:ext>
                </a:extLst>
              </a:tr>
              <a:tr h="46470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68097"/>
                  </a:ext>
                </a:extLst>
              </a:tr>
              <a:tr h="531991"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98419"/>
                  </a:ext>
                </a:extLst>
              </a:tr>
            </a:tbl>
          </a:graphicData>
        </a:graphic>
      </p:graphicFrame>
      <p:graphicFrame>
        <p:nvGraphicFramePr>
          <p:cNvPr id="16" name="表格 7">
            <a:extLst>
              <a:ext uri="{FF2B5EF4-FFF2-40B4-BE49-F238E27FC236}">
                <a16:creationId xmlns:a16="http://schemas.microsoft.com/office/drawing/2014/main" id="{2821F5AC-EC02-6945-BE7C-6C81C2143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08838"/>
              </p:ext>
            </p:extLst>
          </p:nvPr>
        </p:nvGraphicFramePr>
        <p:xfrm>
          <a:off x="9123680" y="1438162"/>
          <a:ext cx="1768500" cy="158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00">
                  <a:extLst>
                    <a:ext uri="{9D8B030D-6E8A-4147-A177-3AD203B41FA5}">
                      <a16:colId xmlns:a16="http://schemas.microsoft.com/office/drawing/2014/main" val="2126043729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3640053503"/>
                    </a:ext>
                  </a:extLst>
                </a:gridCol>
                <a:gridCol w="589500">
                  <a:extLst>
                    <a:ext uri="{9D8B030D-6E8A-4147-A177-3AD203B41FA5}">
                      <a16:colId xmlns:a16="http://schemas.microsoft.com/office/drawing/2014/main" val="4218051786"/>
                    </a:ext>
                  </a:extLst>
                </a:gridCol>
              </a:tblGrid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48957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1346"/>
                  </a:ext>
                </a:extLst>
              </a:tr>
              <a:tr h="527048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5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00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7031707-2D30-E54C-A5FE-0E6003E99A2C}"/>
              </a:ext>
            </a:extLst>
          </p:cNvPr>
          <p:cNvGraphicFramePr>
            <a:graphicFrameLocks noGrp="1"/>
          </p:cNvGraphicFramePr>
          <p:nvPr/>
        </p:nvGraphicFramePr>
        <p:xfrm>
          <a:off x="479227" y="486886"/>
          <a:ext cx="2695773" cy="2942114"/>
        </p:xfrm>
        <a:graphic>
          <a:graphicData uri="http://schemas.openxmlformats.org/drawingml/2006/table">
            <a:tbl>
              <a:tblPr/>
              <a:tblGrid>
                <a:gridCol w="526518">
                  <a:extLst>
                    <a:ext uri="{9D8B030D-6E8A-4147-A177-3AD203B41FA5}">
                      <a16:colId xmlns:a16="http://schemas.microsoft.com/office/drawing/2014/main" val="2264575779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1283912556"/>
                    </a:ext>
                  </a:extLst>
                </a:gridCol>
                <a:gridCol w="526518">
                  <a:extLst>
                    <a:ext uri="{9D8B030D-6E8A-4147-A177-3AD203B41FA5}">
                      <a16:colId xmlns:a16="http://schemas.microsoft.com/office/drawing/2014/main" val="409442440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207998226"/>
                    </a:ext>
                  </a:extLst>
                </a:gridCol>
                <a:gridCol w="547579">
                  <a:extLst>
                    <a:ext uri="{9D8B030D-6E8A-4147-A177-3AD203B41FA5}">
                      <a16:colId xmlns:a16="http://schemas.microsoft.com/office/drawing/2014/main" val="3868209946"/>
                    </a:ext>
                  </a:extLst>
                </a:gridCol>
              </a:tblGrid>
              <a:tr h="6299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98627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5490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2151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10048"/>
                  </a:ext>
                </a:extLst>
              </a:tr>
              <a:tr h="57803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9432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026AA5-F1A8-2744-BDD5-F16F23C0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97630"/>
              </p:ext>
            </p:extLst>
          </p:nvPr>
        </p:nvGraphicFramePr>
        <p:xfrm>
          <a:off x="4767309" y="1106496"/>
          <a:ext cx="1642766" cy="1629172"/>
        </p:xfrm>
        <a:graphic>
          <a:graphicData uri="http://schemas.openxmlformats.org/drawingml/2006/table">
            <a:tbl>
              <a:tblPr/>
              <a:tblGrid>
                <a:gridCol w="523608">
                  <a:extLst>
                    <a:ext uri="{9D8B030D-6E8A-4147-A177-3AD203B41FA5}">
                      <a16:colId xmlns:a16="http://schemas.microsoft.com/office/drawing/2014/main" val="2060692951"/>
                    </a:ext>
                  </a:extLst>
                </a:gridCol>
                <a:gridCol w="544456">
                  <a:extLst>
                    <a:ext uri="{9D8B030D-6E8A-4147-A177-3AD203B41FA5}">
                      <a16:colId xmlns:a16="http://schemas.microsoft.com/office/drawing/2014/main" val="4289742241"/>
                    </a:ext>
                  </a:extLst>
                </a:gridCol>
                <a:gridCol w="574702">
                  <a:extLst>
                    <a:ext uri="{9D8B030D-6E8A-4147-A177-3AD203B41FA5}">
                      <a16:colId xmlns:a16="http://schemas.microsoft.com/office/drawing/2014/main" val="2434985697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857988"/>
                  </a:ext>
                </a:extLst>
              </a:tr>
              <a:tr h="464701"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68097"/>
                  </a:ext>
                </a:extLst>
              </a:tr>
              <a:tr h="531991"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CN" altLang="en-US" b="1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8A">
                        <a:alpha val="6378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9841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0E8B4FE-6298-A846-BC2B-5E0C1AD53A92}"/>
              </a:ext>
            </a:extLst>
          </p:cNvPr>
          <p:cNvSpPr txBox="1"/>
          <p:nvPr/>
        </p:nvSpPr>
        <p:spPr>
          <a:xfrm>
            <a:off x="1353440" y="3697541"/>
            <a:ext cx="133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输入图像</a:t>
            </a:r>
            <a:r>
              <a:rPr kumimoji="1" lang="en-US" altLang="zh-CN" dirty="0"/>
              <a:t>(5X5)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E0133C-09D8-964F-BB27-07A279582811}"/>
              </a:ext>
            </a:extLst>
          </p:cNvPr>
          <p:cNvSpPr txBox="1"/>
          <p:nvPr/>
        </p:nvSpPr>
        <p:spPr>
          <a:xfrm>
            <a:off x="4767309" y="3191291"/>
            <a:ext cx="2059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池化核</a:t>
            </a:r>
            <a:r>
              <a:rPr kumimoji="1" lang="en-US" altLang="zh-CN" dirty="0"/>
              <a:t>(3x3), </a:t>
            </a:r>
            <a:r>
              <a:rPr kumimoji="1" lang="en-US" altLang="zh-CN" dirty="0" err="1"/>
              <a:t>kernel_size</a:t>
            </a:r>
            <a:r>
              <a:rPr kumimoji="1" lang="en-US" altLang="zh-CN" dirty="0"/>
              <a:t>=3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4908C8-BBE9-DF4A-BC51-EA6F94CB79B7}"/>
              </a:ext>
            </a:extLst>
          </p:cNvPr>
          <p:cNvSpPr txBox="1"/>
          <p:nvPr/>
        </p:nvSpPr>
        <p:spPr>
          <a:xfrm>
            <a:off x="4767309" y="213064"/>
            <a:ext cx="315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最大池化操作</a:t>
            </a: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1C21D8A5-C72D-5349-B006-5A4222C29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39978"/>
              </p:ext>
            </p:extLst>
          </p:nvPr>
        </p:nvGraphicFramePr>
        <p:xfrm>
          <a:off x="9214034" y="1026142"/>
          <a:ext cx="7467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56">
                  <a:extLst>
                    <a:ext uri="{9D8B030D-6E8A-4147-A177-3AD203B41FA5}">
                      <a16:colId xmlns:a16="http://schemas.microsoft.com/office/drawing/2014/main" val="664843416"/>
                    </a:ext>
                  </a:extLst>
                </a:gridCol>
                <a:gridCol w="373356">
                  <a:extLst>
                    <a:ext uri="{9D8B030D-6E8A-4147-A177-3AD203B41FA5}">
                      <a16:colId xmlns:a16="http://schemas.microsoft.com/office/drawing/2014/main" val="2889235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274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0642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BB7AEE3-4343-F74D-9B40-0AD35A016B61}"/>
              </a:ext>
            </a:extLst>
          </p:cNvPr>
          <p:cNvSpPr txBox="1"/>
          <p:nvPr/>
        </p:nvSpPr>
        <p:spPr>
          <a:xfrm>
            <a:off x="7563775" y="1127464"/>
            <a:ext cx="1313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Ceil_model</a:t>
            </a:r>
            <a:r>
              <a:rPr kumimoji="1" lang="en-US" altLang="zh-CN" dirty="0"/>
              <a:t>=True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386474-EDBE-6B43-A5B0-84672E823021}"/>
              </a:ext>
            </a:extLst>
          </p:cNvPr>
          <p:cNvSpPr txBox="1"/>
          <p:nvPr/>
        </p:nvSpPr>
        <p:spPr>
          <a:xfrm>
            <a:off x="7563775" y="3160459"/>
            <a:ext cx="1313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Ceil_model</a:t>
            </a:r>
            <a:r>
              <a:rPr kumimoji="1" lang="en-US" altLang="zh-CN" dirty="0"/>
              <a:t>=False</a:t>
            </a:r>
            <a:endParaRPr kumimoji="1" lang="zh-CN" altLang="en-US" dirty="0"/>
          </a:p>
        </p:txBody>
      </p:sp>
      <p:graphicFrame>
        <p:nvGraphicFramePr>
          <p:cNvPr id="17" name="表格 14">
            <a:extLst>
              <a:ext uri="{FF2B5EF4-FFF2-40B4-BE49-F238E27FC236}">
                <a16:creationId xmlns:a16="http://schemas.microsoft.com/office/drawing/2014/main" id="{D2DAE400-8A49-9242-9828-E1CE57DDC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46605"/>
              </p:ext>
            </p:extLst>
          </p:nvPr>
        </p:nvGraphicFramePr>
        <p:xfrm>
          <a:off x="9214034" y="3191291"/>
          <a:ext cx="4537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748">
                  <a:extLst>
                    <a:ext uri="{9D8B030D-6E8A-4147-A177-3AD203B41FA5}">
                      <a16:colId xmlns:a16="http://schemas.microsoft.com/office/drawing/2014/main" val="664843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274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35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CBAC33-0289-2A4B-A2B4-D6DF9C67761E}"/>
              </a:ext>
            </a:extLst>
          </p:cNvPr>
          <p:cNvSpPr txBox="1"/>
          <p:nvPr/>
        </p:nvSpPr>
        <p:spPr>
          <a:xfrm>
            <a:off x="2601158" y="754602"/>
            <a:ext cx="2902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 = -1</a:t>
            </a:r>
          </a:p>
          <a:p>
            <a:r>
              <a:rPr kumimoji="1" lang="en-US" altLang="zh-CN" dirty="0" err="1"/>
              <a:t>Relu</a:t>
            </a:r>
            <a:r>
              <a:rPr kumimoji="1" lang="en-US" altLang="zh-CN" dirty="0"/>
              <a:t>(input, </a:t>
            </a:r>
            <a:r>
              <a:rPr kumimoji="1" lang="en-US" altLang="zh-CN" dirty="0" err="1"/>
              <a:t>inplace</a:t>
            </a:r>
            <a:r>
              <a:rPr kumimoji="1" lang="en-US" altLang="zh-CN" dirty="0"/>
              <a:t>=True)</a:t>
            </a:r>
          </a:p>
          <a:p>
            <a:r>
              <a:rPr kumimoji="1" lang="en-US" altLang="zh-CN" dirty="0"/>
              <a:t>Input = 0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0052A1-B82C-904D-89A8-B88F83CF8AE0}"/>
              </a:ext>
            </a:extLst>
          </p:cNvPr>
          <p:cNvSpPr txBox="1"/>
          <p:nvPr/>
        </p:nvSpPr>
        <p:spPr>
          <a:xfrm>
            <a:off x="6970451" y="649550"/>
            <a:ext cx="4144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Input = -1</a:t>
            </a:r>
          </a:p>
          <a:p>
            <a:r>
              <a:rPr kumimoji="1" lang="en-US" altLang="zh-CN" dirty="0"/>
              <a:t>Output = </a:t>
            </a:r>
            <a:r>
              <a:rPr kumimoji="1" lang="en-US" altLang="zh-CN" dirty="0" err="1"/>
              <a:t>Relu</a:t>
            </a:r>
            <a:r>
              <a:rPr kumimoji="1" lang="en-US" altLang="zh-CN" dirty="0"/>
              <a:t>(input, </a:t>
            </a:r>
            <a:r>
              <a:rPr kumimoji="1" lang="en-US" altLang="zh-CN" dirty="0" err="1"/>
              <a:t>inplace</a:t>
            </a:r>
            <a:r>
              <a:rPr kumimoji="1" lang="en-US" altLang="zh-CN" dirty="0"/>
              <a:t>=False)</a:t>
            </a:r>
          </a:p>
          <a:p>
            <a:r>
              <a:rPr kumimoji="1" lang="en-US" altLang="zh-CN" dirty="0"/>
              <a:t>Input = -1</a:t>
            </a:r>
          </a:p>
          <a:p>
            <a:r>
              <a:rPr kumimoji="1" lang="en-US" altLang="zh-CN" dirty="0"/>
              <a:t>Output = 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588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ter | Free Full-Text | Comparison of Multiple Linear Regression,  Artificial Neural Network, Extreme Learning Machine, and Support Vector  Machine in Deriving Operation Rule of Hydropower Reservoir">
            <a:extLst>
              <a:ext uri="{FF2B5EF4-FFF2-40B4-BE49-F238E27FC236}">
                <a16:creationId xmlns:a16="http://schemas.microsoft.com/office/drawing/2014/main" id="{C09B1B9F-FAF2-5244-A9CA-3FA334181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0"/>
            <a:ext cx="1030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25ACFF-E6D0-CF4E-B138-0B138E83BD7E}"/>
              </a:ext>
            </a:extLst>
          </p:cNvPr>
          <p:cNvSpPr txBox="1"/>
          <p:nvPr/>
        </p:nvSpPr>
        <p:spPr>
          <a:xfrm>
            <a:off x="4057095" y="337351"/>
            <a:ext cx="130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K1*x1+b1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3B52B0-2C5E-B44B-BF45-7228C0938FE1}"/>
              </a:ext>
            </a:extLst>
          </p:cNvPr>
          <p:cNvSpPr txBox="1"/>
          <p:nvPr/>
        </p:nvSpPr>
        <p:spPr>
          <a:xfrm>
            <a:off x="3978675" y="1306497"/>
            <a:ext cx="130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K2*x2+b2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4294C9-C375-5047-899C-CC9D5AA8AA76}"/>
              </a:ext>
            </a:extLst>
          </p:cNvPr>
          <p:cNvSpPr txBox="1"/>
          <p:nvPr/>
        </p:nvSpPr>
        <p:spPr>
          <a:xfrm>
            <a:off x="3882500" y="2408808"/>
            <a:ext cx="130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K…*</a:t>
            </a:r>
            <a:r>
              <a:rPr kumimoji="1" lang="en-US" altLang="zh-CN" dirty="0" err="1"/>
              <a:t>x..+b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3713C1-3896-CF40-8C30-4EF0AF7ACA00}"/>
              </a:ext>
            </a:extLst>
          </p:cNvPr>
          <p:cNvSpPr txBox="1"/>
          <p:nvPr/>
        </p:nvSpPr>
        <p:spPr>
          <a:xfrm>
            <a:off x="3040601" y="4264072"/>
            <a:ext cx="130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Kd</a:t>
            </a:r>
            <a:r>
              <a:rPr kumimoji="1" lang="en-US" altLang="zh-CN" dirty="0"/>
              <a:t>*</a:t>
            </a:r>
            <a:r>
              <a:rPr kumimoji="1" lang="en-US" altLang="zh-CN" dirty="0" err="1"/>
              <a:t>xd+bd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10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56675535-E049-DA47-8A11-48AB9ED25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544365"/>
              </p:ext>
            </p:extLst>
          </p:nvPr>
        </p:nvGraphicFramePr>
        <p:xfrm>
          <a:off x="1135356" y="1119161"/>
          <a:ext cx="20250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19">
                  <a:extLst>
                    <a:ext uri="{9D8B030D-6E8A-4147-A177-3AD203B41FA5}">
                      <a16:colId xmlns:a16="http://schemas.microsoft.com/office/drawing/2014/main" val="778897999"/>
                    </a:ext>
                  </a:extLst>
                </a:gridCol>
                <a:gridCol w="405019">
                  <a:extLst>
                    <a:ext uri="{9D8B030D-6E8A-4147-A177-3AD203B41FA5}">
                      <a16:colId xmlns:a16="http://schemas.microsoft.com/office/drawing/2014/main" val="3691834744"/>
                    </a:ext>
                  </a:extLst>
                </a:gridCol>
                <a:gridCol w="405019">
                  <a:extLst>
                    <a:ext uri="{9D8B030D-6E8A-4147-A177-3AD203B41FA5}">
                      <a16:colId xmlns:a16="http://schemas.microsoft.com/office/drawing/2014/main" val="261426251"/>
                    </a:ext>
                  </a:extLst>
                </a:gridCol>
                <a:gridCol w="405019">
                  <a:extLst>
                    <a:ext uri="{9D8B030D-6E8A-4147-A177-3AD203B41FA5}">
                      <a16:colId xmlns:a16="http://schemas.microsoft.com/office/drawing/2014/main" val="2171298578"/>
                    </a:ext>
                  </a:extLst>
                </a:gridCol>
                <a:gridCol w="405019">
                  <a:extLst>
                    <a:ext uri="{9D8B030D-6E8A-4147-A177-3AD203B41FA5}">
                      <a16:colId xmlns:a16="http://schemas.microsoft.com/office/drawing/2014/main" val="3626951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2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4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96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68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168914"/>
                  </a:ext>
                </a:extLst>
              </a:tr>
            </a:tbl>
          </a:graphicData>
        </a:graphic>
      </p:graphicFrame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21032D2E-F85D-D948-A1BC-F849BD60D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790785"/>
              </p:ext>
            </p:extLst>
          </p:nvPr>
        </p:nvGraphicFramePr>
        <p:xfrm>
          <a:off x="3816906" y="1927028"/>
          <a:ext cx="49039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393">
                  <a:extLst>
                    <a:ext uri="{9D8B030D-6E8A-4147-A177-3AD203B41FA5}">
                      <a16:colId xmlns:a16="http://schemas.microsoft.com/office/drawing/2014/main" val="2083723658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336568852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118891190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2575652022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3170977073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765970879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137734321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2702692639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794247858"/>
                    </a:ext>
                  </a:extLst>
                </a:gridCol>
                <a:gridCol w="490393">
                  <a:extLst>
                    <a:ext uri="{9D8B030D-6E8A-4147-A177-3AD203B41FA5}">
                      <a16:colId xmlns:a16="http://schemas.microsoft.com/office/drawing/2014/main" val="2303405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63128"/>
                  </a:ext>
                </a:extLst>
              </a:tr>
            </a:tbl>
          </a:graphicData>
        </a:graphic>
      </p:graphicFrame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12A6D11-EE57-5E47-86B9-E0E2F8865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79550"/>
              </p:ext>
            </p:extLst>
          </p:nvPr>
        </p:nvGraphicFramePr>
        <p:xfrm>
          <a:off x="9666797" y="1927603"/>
          <a:ext cx="178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68">
                  <a:extLst>
                    <a:ext uri="{9D8B030D-6E8A-4147-A177-3AD203B41FA5}">
                      <a16:colId xmlns:a16="http://schemas.microsoft.com/office/drawing/2014/main" val="3485795140"/>
                    </a:ext>
                  </a:extLst>
                </a:gridCol>
                <a:gridCol w="594968">
                  <a:extLst>
                    <a:ext uri="{9D8B030D-6E8A-4147-A177-3AD203B41FA5}">
                      <a16:colId xmlns:a16="http://schemas.microsoft.com/office/drawing/2014/main" val="3039846990"/>
                    </a:ext>
                  </a:extLst>
                </a:gridCol>
                <a:gridCol w="594968">
                  <a:extLst>
                    <a:ext uri="{9D8B030D-6E8A-4147-A177-3AD203B41FA5}">
                      <a16:colId xmlns:a16="http://schemas.microsoft.com/office/drawing/2014/main" val="3678025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09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ructure of CIFAR10-quick model. | Download Scientific Diagram">
            <a:extLst>
              <a:ext uri="{FF2B5EF4-FFF2-40B4-BE49-F238E27FC236}">
                <a16:creationId xmlns:a16="http://schemas.microsoft.com/office/drawing/2014/main" id="{7D4DCC8A-4A50-ED4A-9CDA-18CD59EE1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79" y="3004906"/>
            <a:ext cx="107950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E4C5648-C25B-C549-B0CF-DC2236AF2951}"/>
              </a:ext>
            </a:extLst>
          </p:cNvPr>
          <p:cNvSpPr txBox="1"/>
          <p:nvPr/>
        </p:nvSpPr>
        <p:spPr>
          <a:xfrm>
            <a:off x="4919708" y="5708342"/>
            <a:ext cx="235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CIFAR 10 model </a:t>
            </a:r>
            <a:r>
              <a:rPr kumimoji="1" lang="zh-CN" altLang="en-US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02BACC-A243-394D-9895-3407BE608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18" y="47792"/>
            <a:ext cx="8273988" cy="250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74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DFED98-0E67-5A40-8274-78C957166B4F}"/>
              </a:ext>
            </a:extLst>
          </p:cNvPr>
          <p:cNvSpPr txBox="1"/>
          <p:nvPr/>
        </p:nvSpPr>
        <p:spPr>
          <a:xfrm>
            <a:off x="7865615" y="2867487"/>
            <a:ext cx="138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选择（</a:t>
            </a:r>
            <a:r>
              <a:rPr kumimoji="1" lang="en-US" altLang="zh-CN" dirty="0"/>
              <a:t>30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填空（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解答（</a:t>
            </a:r>
            <a:r>
              <a:rPr kumimoji="1" lang="en-US" altLang="zh-CN" dirty="0"/>
              <a:t>50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B66B8F-5F8D-184F-9472-B747F5B2E4CC}"/>
              </a:ext>
            </a:extLst>
          </p:cNvPr>
          <p:cNvSpPr txBox="1"/>
          <p:nvPr/>
        </p:nvSpPr>
        <p:spPr>
          <a:xfrm>
            <a:off x="4910830" y="2867487"/>
            <a:ext cx="138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选择（</a:t>
            </a:r>
            <a:r>
              <a:rPr kumimoji="1" lang="en-US" altLang="zh-CN" dirty="0"/>
              <a:t>10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填空（</a:t>
            </a:r>
            <a:r>
              <a:rPr kumimoji="1" lang="en-US" altLang="zh-CN" dirty="0"/>
              <a:t>10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解答（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1FE4AD-DA7E-4643-B4BA-0691F330E8F2}"/>
              </a:ext>
            </a:extLst>
          </p:cNvPr>
          <p:cNvSpPr txBox="1"/>
          <p:nvPr/>
        </p:nvSpPr>
        <p:spPr>
          <a:xfrm>
            <a:off x="8158578" y="2201662"/>
            <a:ext cx="246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target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EF78F8-EDEF-004B-8785-26152A7C6272}"/>
              </a:ext>
            </a:extLst>
          </p:cNvPr>
          <p:cNvSpPr txBox="1"/>
          <p:nvPr/>
        </p:nvSpPr>
        <p:spPr>
          <a:xfrm>
            <a:off x="5061750" y="2201662"/>
            <a:ext cx="2467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output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C86D1F-8D22-D145-A068-4AEADD8E58F3}"/>
              </a:ext>
            </a:extLst>
          </p:cNvPr>
          <p:cNvSpPr txBox="1"/>
          <p:nvPr/>
        </p:nvSpPr>
        <p:spPr>
          <a:xfrm>
            <a:off x="4989249" y="5095783"/>
            <a:ext cx="5903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Loss=(30-10)+(20-10)+(50-10)=70</a:t>
            </a:r>
          </a:p>
          <a:p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计算实际输出和目标之间的差距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为我们更新输出提供一定的依据（反向传播）</a:t>
            </a:r>
            <a:r>
              <a:rPr kumimoji="1" lang="en-US" altLang="zh-CN" dirty="0"/>
              <a:t>, grad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CD1516-1988-3F49-A301-14298A956E4B}"/>
              </a:ext>
            </a:extLst>
          </p:cNvPr>
          <p:cNvSpPr txBox="1"/>
          <p:nvPr/>
        </p:nvSpPr>
        <p:spPr>
          <a:xfrm>
            <a:off x="559293" y="985421"/>
            <a:ext cx="3835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X:1, 2, 3</a:t>
            </a:r>
          </a:p>
          <a:p>
            <a:r>
              <a:rPr kumimoji="1" lang="en-US" altLang="zh-CN" dirty="0"/>
              <a:t>Y:1, 2, 5</a:t>
            </a:r>
          </a:p>
          <a:p>
            <a:r>
              <a:rPr kumimoji="1" lang="en-US" altLang="zh-CN" dirty="0"/>
              <a:t>L1loss = (0+0+2) /3=0.6</a:t>
            </a:r>
          </a:p>
          <a:p>
            <a:r>
              <a:rPr kumimoji="1" lang="en-US" altLang="zh-CN" dirty="0"/>
              <a:t>MSE = (0+0+2^2)/3=4/3=1.333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5554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6F87281-CD1F-1C4A-A46C-3379EAF5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215345"/>
            <a:ext cx="9575800" cy="17399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0226BD6-9CCC-7445-AA3E-7F81BE03D04C}"/>
              </a:ext>
            </a:extLst>
          </p:cNvPr>
          <p:cNvSpPr txBox="1"/>
          <p:nvPr/>
        </p:nvSpPr>
        <p:spPr>
          <a:xfrm>
            <a:off x="6883277" y="1770579"/>
            <a:ext cx="193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Person, dog, cat</a:t>
            </a:r>
          </a:p>
          <a:p>
            <a:r>
              <a:rPr kumimoji="1" lang="en-US" altLang="zh-CN" dirty="0"/>
              <a:t>0,            1,     2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A7E3D8-7974-6643-AB8B-C11EA2F48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5" y="2485070"/>
            <a:ext cx="1655191" cy="15543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3DF823-C24D-694A-8A5B-1030ED302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200" y="2453427"/>
            <a:ext cx="2451100" cy="1562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50D1A11-A0A3-D649-80CD-A8B47A2A6496}"/>
              </a:ext>
            </a:extLst>
          </p:cNvPr>
          <p:cNvSpPr txBox="1"/>
          <p:nvPr/>
        </p:nvSpPr>
        <p:spPr>
          <a:xfrm>
            <a:off x="5956917" y="2741435"/>
            <a:ext cx="1464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output</a:t>
            </a:r>
          </a:p>
          <a:p>
            <a:r>
              <a:rPr kumimoji="1" lang="en-US" altLang="zh-CN" dirty="0"/>
              <a:t>[0.1, 0.2, 0.3]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0E1CF9-7305-544E-B6A8-AEB26C727316}"/>
              </a:ext>
            </a:extLst>
          </p:cNvPr>
          <p:cNvSpPr txBox="1"/>
          <p:nvPr/>
        </p:nvSpPr>
        <p:spPr>
          <a:xfrm>
            <a:off x="8632363" y="2782669"/>
            <a:ext cx="226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Target</a:t>
            </a:r>
          </a:p>
          <a:p>
            <a:r>
              <a:rPr kumimoji="1" lang="en-US" altLang="zh-CN" dirty="0"/>
              <a:t>1</a:t>
            </a:r>
          </a:p>
          <a:p>
            <a:r>
              <a:rPr kumimoji="1" lang="en-US" altLang="zh-CN" dirty="0"/>
              <a:t>class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941E9B-6D15-D842-8D06-A000432E2BAC}"/>
              </a:ext>
            </a:extLst>
          </p:cNvPr>
          <p:cNvSpPr txBox="1"/>
          <p:nvPr/>
        </p:nvSpPr>
        <p:spPr>
          <a:xfrm>
            <a:off x="3995074" y="4902756"/>
            <a:ext cx="551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Loss(x, class) = -0.2+log(exp(0.1)+exp(0.2)+exp(0.3))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715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9EEA2B-6F10-8A4E-808B-EEDB37EA0335}"/>
              </a:ext>
            </a:extLst>
          </p:cNvPr>
          <p:cNvSpPr txBox="1"/>
          <p:nvPr/>
        </p:nvSpPr>
        <p:spPr>
          <a:xfrm>
            <a:off x="2352583" y="710214"/>
            <a:ext cx="549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Lr = learning rate </a:t>
            </a:r>
            <a:r>
              <a:rPr kumimoji="1" lang="zh-CN" altLang="en-US" dirty="0"/>
              <a:t>学习速率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5114CC-5C4D-D644-ADBE-EA8A291F8F86}"/>
              </a:ext>
            </a:extLst>
          </p:cNvPr>
          <p:cNvSpPr txBox="1"/>
          <p:nvPr/>
        </p:nvSpPr>
        <p:spPr>
          <a:xfrm>
            <a:off x="1242874" y="1890944"/>
            <a:ext cx="64185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Loss</a:t>
            </a:r>
          </a:p>
          <a:p>
            <a:r>
              <a:rPr kumimoji="1" lang="en-US" altLang="zh-CN" dirty="0" err="1"/>
              <a:t>Optim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For data in </a:t>
            </a:r>
            <a:r>
              <a:rPr kumimoji="1" lang="en-US" altLang="zh-CN" dirty="0" err="1"/>
              <a:t>dataloader</a:t>
            </a:r>
            <a:r>
              <a:rPr kumimoji="1" lang="en-US" altLang="zh-CN" dirty="0"/>
              <a:t>:</a:t>
            </a:r>
          </a:p>
          <a:p>
            <a:r>
              <a:rPr kumimoji="1" lang="en-US" altLang="zh-CN" dirty="0"/>
              <a:t>	</a:t>
            </a:r>
            <a:r>
              <a:rPr kumimoji="1" lang="en-US" altLang="zh-CN" dirty="0" err="1"/>
              <a:t>imgs</a:t>
            </a:r>
            <a:r>
              <a:rPr kumimoji="1" lang="en-US" altLang="zh-CN" dirty="0"/>
              <a:t>, targets = data</a:t>
            </a:r>
          </a:p>
          <a:p>
            <a:r>
              <a:rPr kumimoji="1" lang="en-US" altLang="zh-CN" dirty="0"/>
              <a:t>	output = model(</a:t>
            </a:r>
            <a:r>
              <a:rPr kumimoji="1" lang="en-US" altLang="zh-CN" dirty="0" err="1"/>
              <a:t>imgs</a:t>
            </a:r>
            <a:r>
              <a:rPr kumimoji="1" lang="en-US" altLang="zh-CN" dirty="0"/>
              <a:t>)</a:t>
            </a:r>
          </a:p>
          <a:p>
            <a:r>
              <a:rPr kumimoji="1" lang="en-US" altLang="zh-CN" dirty="0"/>
              <a:t>	</a:t>
            </a:r>
            <a:r>
              <a:rPr kumimoji="1" lang="en-US" altLang="zh-CN" dirty="0" err="1"/>
              <a:t>loss_result</a:t>
            </a:r>
            <a:r>
              <a:rPr kumimoji="1" lang="en-US" altLang="zh-CN" dirty="0"/>
              <a:t> = loss(output, targets)</a:t>
            </a:r>
          </a:p>
          <a:p>
            <a:r>
              <a:rPr kumimoji="1" lang="en-US" altLang="zh-CN" dirty="0"/>
              <a:t>	</a:t>
            </a:r>
            <a:r>
              <a:rPr kumimoji="1" lang="en-US" altLang="zh-CN" dirty="0" err="1"/>
              <a:t>optim.zero_grad</a:t>
            </a:r>
            <a:r>
              <a:rPr kumimoji="1" lang="en-US" altLang="zh-CN" dirty="0"/>
              <a:t>()</a:t>
            </a:r>
          </a:p>
          <a:p>
            <a:r>
              <a:rPr kumimoji="1" lang="en-US" altLang="zh-CN" dirty="0"/>
              <a:t>	</a:t>
            </a:r>
            <a:r>
              <a:rPr kumimoji="1" lang="en-US" altLang="zh-CN" dirty="0" err="1"/>
              <a:t>loss_result.backward</a:t>
            </a:r>
            <a:r>
              <a:rPr kumimoji="1" lang="en-US" altLang="zh-CN" dirty="0"/>
              <a:t>()</a:t>
            </a:r>
          </a:p>
          <a:p>
            <a:r>
              <a:rPr kumimoji="1" lang="en-US" altLang="zh-CN" dirty="0"/>
              <a:t>	</a:t>
            </a:r>
            <a:r>
              <a:rPr kumimoji="1" lang="en-US" altLang="zh-CN" dirty="0" err="1"/>
              <a:t>optim.step</a:t>
            </a:r>
            <a:r>
              <a:rPr kumimoji="1" lang="en-US" altLang="zh-CN"/>
              <a:t>(</a:t>
            </a:r>
            <a:r>
              <a:rPr kumimoji="1"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8152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C561D-F5A6-0840-88E3-1E8E85CB1EAC}"/>
              </a:ext>
            </a:extLst>
          </p:cNvPr>
          <p:cNvSpPr txBox="1"/>
          <p:nvPr/>
        </p:nvSpPr>
        <p:spPr>
          <a:xfrm>
            <a:off x="3657600" y="1340527"/>
            <a:ext cx="69512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模型的保存和加载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完整的模型训练套路（以</a:t>
            </a:r>
            <a:r>
              <a:rPr kumimoji="1" lang="en-US" altLang="zh-CN" dirty="0"/>
              <a:t>CIFAR10</a:t>
            </a:r>
            <a:r>
              <a:rPr kumimoji="1" lang="zh-CN" altLang="en-US" dirty="0"/>
              <a:t>数据集）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GPU</a:t>
            </a:r>
            <a:r>
              <a:rPr kumimoji="1" lang="zh-CN" altLang="en-US" dirty="0"/>
              <a:t>训练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完整的模型验证</a:t>
            </a:r>
            <a:r>
              <a:rPr kumimoji="1" lang="en-US" altLang="zh-CN" dirty="0"/>
              <a:t>(</a:t>
            </a:r>
            <a:r>
              <a:rPr kumimoji="1" lang="zh-CN" altLang="en-US" dirty="0"/>
              <a:t>测试，</a:t>
            </a:r>
            <a:r>
              <a:rPr kumimoji="1" lang="en-US" altLang="zh-CN" dirty="0"/>
              <a:t>demo)</a:t>
            </a:r>
            <a:r>
              <a:rPr kumimoji="1" lang="zh-CN" altLang="en-US" dirty="0"/>
              <a:t>套路</a:t>
            </a:r>
            <a:r>
              <a:rPr kumimoji="1" lang="en-US" altLang="zh-CN" dirty="0"/>
              <a:t>-</a:t>
            </a:r>
            <a:r>
              <a:rPr kumimoji="1" lang="zh-CN" altLang="en-US" dirty="0"/>
              <a:t>利用已经训练好的模型，然后给它提供输入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再来看一下</a:t>
            </a:r>
            <a:r>
              <a:rPr kumimoji="1" lang="en-US" altLang="zh-CN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66051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D08990-79D2-A14C-9B99-9B6A511EA0D1}"/>
              </a:ext>
            </a:extLst>
          </p:cNvPr>
          <p:cNvSpPr txBox="1"/>
          <p:nvPr/>
        </p:nvSpPr>
        <p:spPr>
          <a:xfrm>
            <a:off x="967666" y="656948"/>
            <a:ext cx="6560598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2 x input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Model(2</a:t>
            </a:r>
            <a:r>
              <a:rPr kumimoji="1" lang="zh-CN" altLang="en-US" dirty="0"/>
              <a:t>分类）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Outputs = </a:t>
            </a:r>
          </a:p>
          <a:p>
            <a:r>
              <a:rPr kumimoji="1" lang="en-US" altLang="zh-CN" dirty="0"/>
              <a:t>[0.1, 0.2]</a:t>
            </a:r>
          </a:p>
          <a:p>
            <a:r>
              <a:rPr kumimoji="1" lang="en-US" altLang="zh-CN" dirty="0"/>
              <a:t>[0.3, 0.4]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 0.    1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Argmax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Preds</a:t>
            </a:r>
            <a:r>
              <a:rPr kumimoji="1" lang="en-US" altLang="zh-CN" dirty="0"/>
              <a:t> = [1]</a:t>
            </a:r>
          </a:p>
          <a:p>
            <a:r>
              <a:rPr kumimoji="1" lang="en-US" altLang="zh-CN" dirty="0"/>
              <a:t>	[1]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Inputs target = [0][1]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Preds</a:t>
            </a:r>
            <a:r>
              <a:rPr kumimoji="1" lang="en-US" altLang="zh-CN" dirty="0"/>
              <a:t> == inputs target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[false, true].sum() = 1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760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6EFDC1-1104-6D48-BBAC-8E493A569B3C}"/>
              </a:ext>
            </a:extLst>
          </p:cNvPr>
          <p:cNvSpPr txBox="1"/>
          <p:nvPr/>
        </p:nvSpPr>
        <p:spPr>
          <a:xfrm>
            <a:off x="1127464" y="887767"/>
            <a:ext cx="41902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网络模型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数据（输入，标注）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损失函数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cuda</a:t>
            </a:r>
            <a:r>
              <a:rPr kumimoji="1" lang="en-US" altLang="zh-CN" dirty="0"/>
              <a:t>()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247BA4-CD7A-C24F-B38E-63BDD1EB1C32}"/>
              </a:ext>
            </a:extLst>
          </p:cNvPr>
          <p:cNvSpPr txBox="1"/>
          <p:nvPr/>
        </p:nvSpPr>
        <p:spPr>
          <a:xfrm>
            <a:off x="6755907" y="807868"/>
            <a:ext cx="45009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.to(device)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Device = </a:t>
            </a:r>
            <a:r>
              <a:rPr kumimoji="1" lang="en-US" altLang="zh-CN" dirty="0" err="1"/>
              <a:t>torch.device</a:t>
            </a:r>
            <a:r>
              <a:rPr kumimoji="1" lang="en-US" altLang="zh-CN" dirty="0"/>
              <a:t>(“</a:t>
            </a:r>
            <a:r>
              <a:rPr kumimoji="1" lang="en-US" altLang="zh-CN" dirty="0" err="1"/>
              <a:t>cpu</a:t>
            </a:r>
            <a:r>
              <a:rPr kumimoji="1" lang="en-US" altLang="zh-CN" dirty="0"/>
              <a:t>”)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Torch.device</a:t>
            </a:r>
            <a:r>
              <a:rPr kumimoji="1" lang="en-US" altLang="zh-CN" dirty="0"/>
              <a:t>(“</a:t>
            </a:r>
            <a:r>
              <a:rPr kumimoji="1" lang="en-US" altLang="zh-CN" dirty="0" err="1"/>
              <a:t>cuda</a:t>
            </a:r>
            <a:r>
              <a:rPr kumimoji="1" lang="en-US" altLang="zh-CN" dirty="0"/>
              <a:t>”)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Torch.device</a:t>
            </a:r>
            <a:r>
              <a:rPr kumimoji="1" lang="en-US" altLang="zh-CN" dirty="0"/>
              <a:t>(“cuda:0”)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Torch.device</a:t>
            </a:r>
            <a:r>
              <a:rPr kumimoji="1" lang="en-US" altLang="zh-CN" dirty="0"/>
              <a:t>(“cuda:1”)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975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396138-BD69-8047-9C34-9B81D48C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1384978"/>
            <a:ext cx="91694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14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A0D782-24AC-0949-934B-4F2EC20A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453" y="663643"/>
            <a:ext cx="4254500" cy="4927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1987A43-5C3B-3846-B5DC-DEB8E21BA68A}"/>
              </a:ext>
            </a:extLst>
          </p:cNvPr>
          <p:cNvSpPr txBox="1"/>
          <p:nvPr/>
        </p:nvSpPr>
        <p:spPr>
          <a:xfrm>
            <a:off x="7156882" y="5271027"/>
            <a:ext cx="2466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          公众号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对不起，不聊技术</a:t>
            </a:r>
          </a:p>
        </p:txBody>
      </p:sp>
    </p:spTree>
    <p:extLst>
      <p:ext uri="{BB962C8B-B14F-4D97-AF65-F5344CB8AC3E}">
        <p14:creationId xmlns:p14="http://schemas.microsoft.com/office/powerpoint/2010/main" val="205987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10721</TotalTime>
  <Words>715</Words>
  <Application>Microsoft Office PowerPoint</Application>
  <PresentationFormat>宽屏</PresentationFormat>
  <Paragraphs>321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IBMPlexMono</vt:lpstr>
      <vt:lpstr>等线</vt:lpstr>
      <vt:lpstr>等线 Light</vt:lpstr>
      <vt:lpstr>Arial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 tudui</dc:creator>
  <cp:lastModifiedBy>tudui -.-</cp:lastModifiedBy>
  <cp:revision>38</cp:revision>
  <dcterms:created xsi:type="dcterms:W3CDTF">2021-05-09T08:39:08Z</dcterms:created>
  <dcterms:modified xsi:type="dcterms:W3CDTF">2024-10-27T02:52:06Z</dcterms:modified>
</cp:coreProperties>
</file>